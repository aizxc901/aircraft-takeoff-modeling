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28800425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 autoAdjust="0"/>
    <p:restoredTop sz="96126" autoAdjust="0"/>
  </p:normalViewPr>
  <p:slideViewPr>
    <p:cSldViewPr snapToGrid="0">
      <p:cViewPr>
        <p:scale>
          <a:sx n="32" d="100"/>
          <a:sy n="32" d="100"/>
        </p:scale>
        <p:origin x="1968" y="-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3653536" y="7369753"/>
            <a:ext cx="15165058" cy="31457485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0026" y="3360053"/>
            <a:ext cx="19385209" cy="19680297"/>
          </a:xfrm>
        </p:spPr>
        <p:txBody>
          <a:bodyPr anchor="b">
            <a:normAutofit/>
          </a:bodyPr>
          <a:lstStyle>
            <a:lvl1pPr algn="l">
              <a:defRPr sz="13859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0025" y="24213699"/>
            <a:ext cx="15604167" cy="12053507"/>
          </a:xfrm>
        </p:spPr>
        <p:txBody>
          <a:bodyPr anchor="t">
            <a:normAutofit/>
          </a:bodyPr>
          <a:lstStyle>
            <a:lvl1pPr marL="0" indent="0" algn="l">
              <a:buNone/>
              <a:defRPr sz="6299">
                <a:solidFill>
                  <a:schemeClr val="bg2">
                    <a:lumMod val="75000"/>
                  </a:schemeClr>
                </a:solidFill>
              </a:defRPr>
            </a:lvl1pPr>
            <a:lvl2pPr marL="1440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880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320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760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200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640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608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026" y="28320418"/>
            <a:ext cx="20645555" cy="960014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026" y="3360050"/>
            <a:ext cx="20645555" cy="2373370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411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025" y="12480181"/>
            <a:ext cx="20165551" cy="14613551"/>
          </a:xfrm>
        </p:spPr>
        <p:txBody>
          <a:bodyPr anchor="b">
            <a:normAutofit/>
          </a:bodyPr>
          <a:lstStyle>
            <a:lvl1pPr algn="l">
              <a:defRPr sz="10079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0026" y="28267085"/>
            <a:ext cx="20165548" cy="9653478"/>
          </a:xfrm>
        </p:spPr>
        <p:txBody>
          <a:bodyPr anchor="t">
            <a:normAutofit/>
          </a:bodyPr>
          <a:lstStyle>
            <a:lvl1pPr marL="0" indent="0" algn="l">
              <a:buNone/>
              <a:defRPr sz="5669">
                <a:solidFill>
                  <a:schemeClr val="bg2">
                    <a:lumMod val="75000"/>
                  </a:schemeClr>
                </a:solidFill>
              </a:defRPr>
            </a:lvl1pPr>
            <a:lvl2pPr marL="144004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33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026" y="28320418"/>
            <a:ext cx="20645555" cy="9600142"/>
          </a:xfrm>
        </p:spPr>
        <p:txBody>
          <a:bodyPr>
            <a:normAutofit/>
          </a:bodyPr>
          <a:lstStyle>
            <a:lvl1pPr>
              <a:defRPr sz="10079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1680026" y="3360053"/>
            <a:ext cx="12441025" cy="23733686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14684821" y="3360049"/>
            <a:ext cx="12435579" cy="2368035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73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026" y="28320418"/>
            <a:ext cx="20645555" cy="9600142"/>
          </a:xfrm>
        </p:spPr>
        <p:txBody>
          <a:bodyPr>
            <a:normAutofit/>
          </a:bodyPr>
          <a:lstStyle>
            <a:lvl1pPr>
              <a:defRPr sz="10079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0039" y="3360049"/>
            <a:ext cx="11706837" cy="3840057"/>
          </a:xfrm>
        </p:spPr>
        <p:txBody>
          <a:bodyPr anchor="b">
            <a:noAutofit/>
          </a:bodyPr>
          <a:lstStyle>
            <a:lvl1pPr marL="0" indent="0">
              <a:buNone/>
              <a:defRPr sz="7559" b="0" cap="all">
                <a:solidFill>
                  <a:schemeClr val="tx1"/>
                </a:solidFill>
              </a:defRPr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80023" y="7200110"/>
            <a:ext cx="12426851" cy="19893629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91616" y="3570056"/>
            <a:ext cx="11855454" cy="3630050"/>
          </a:xfrm>
        </p:spPr>
        <p:txBody>
          <a:bodyPr anchor="b">
            <a:noAutofit/>
          </a:bodyPr>
          <a:lstStyle>
            <a:lvl1pPr marL="0" indent="0">
              <a:buNone/>
              <a:defRPr sz="7559" b="0" cap="all">
                <a:solidFill>
                  <a:schemeClr val="tx1"/>
                </a:solidFill>
              </a:defRPr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684823" y="7200106"/>
            <a:ext cx="12462247" cy="1984029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61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026" y="28320418"/>
            <a:ext cx="20645555" cy="9600142"/>
          </a:xfrm>
        </p:spPr>
        <p:txBody>
          <a:bodyPr>
            <a:normAutofit/>
          </a:bodyPr>
          <a:lstStyle>
            <a:lvl1pPr>
              <a:defRPr sz="10079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5607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59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66919" y="3360050"/>
            <a:ext cx="10080149" cy="9600142"/>
          </a:xfrm>
        </p:spPr>
        <p:txBody>
          <a:bodyPr anchor="b">
            <a:normAutofit/>
          </a:bodyPr>
          <a:lstStyle>
            <a:lvl1pPr algn="l">
              <a:defRPr sz="6299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0023" y="3360050"/>
            <a:ext cx="13980537" cy="3456051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066919" y="13920221"/>
            <a:ext cx="10080149" cy="13173530"/>
          </a:xfrm>
        </p:spPr>
        <p:txBody>
          <a:bodyPr anchor="t">
            <a:normAutofit/>
          </a:bodyPr>
          <a:lstStyle>
            <a:lvl1pPr marL="0" indent="0">
              <a:buNone/>
              <a:defRPr sz="5040"/>
            </a:lvl1pPr>
            <a:lvl2pPr marL="1440043" indent="0">
              <a:buNone/>
              <a:defRPr sz="3780"/>
            </a:lvl2pPr>
            <a:lvl3pPr marL="2880086" indent="0">
              <a:buNone/>
              <a:defRPr sz="3150"/>
            </a:lvl3pPr>
            <a:lvl4pPr marL="4320129" indent="0">
              <a:buNone/>
              <a:defRPr sz="2835"/>
            </a:lvl4pPr>
            <a:lvl5pPr marL="5760171" indent="0">
              <a:buNone/>
              <a:defRPr sz="2835"/>
            </a:lvl5pPr>
            <a:lvl6pPr marL="7200214" indent="0">
              <a:buNone/>
              <a:defRPr sz="2835"/>
            </a:lvl6pPr>
            <a:lvl7pPr marL="8640257" indent="0">
              <a:buNone/>
              <a:defRPr sz="2835"/>
            </a:lvl7pPr>
            <a:lvl8pPr marL="10080300" indent="0">
              <a:buNone/>
              <a:defRPr sz="2835"/>
            </a:lvl8pPr>
            <a:lvl9pPr marL="11520343" indent="0">
              <a:buNone/>
              <a:defRPr sz="283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779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60209" y="9120135"/>
            <a:ext cx="11223025" cy="7200106"/>
          </a:xfrm>
        </p:spPr>
        <p:txBody>
          <a:bodyPr anchor="b">
            <a:normAutofit/>
          </a:bodyPr>
          <a:lstStyle>
            <a:lvl1pPr algn="l">
              <a:defRPr sz="7559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2400035" y="5760085"/>
            <a:ext cx="10333929" cy="30240447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5040"/>
            </a:lvl1pPr>
            <a:lvl2pPr marL="1440043" indent="0">
              <a:buNone/>
              <a:defRPr sz="5040"/>
            </a:lvl2pPr>
            <a:lvl3pPr marL="2880086" indent="0">
              <a:buNone/>
              <a:defRPr sz="5040"/>
            </a:lvl3pPr>
            <a:lvl4pPr marL="4320129" indent="0">
              <a:buNone/>
              <a:defRPr sz="5040"/>
            </a:lvl4pPr>
            <a:lvl5pPr marL="5760171" indent="0">
              <a:buNone/>
              <a:defRPr sz="5040"/>
            </a:lvl5pPr>
            <a:lvl6pPr marL="7200214" indent="0">
              <a:buNone/>
              <a:defRPr sz="5040"/>
            </a:lvl6pPr>
            <a:lvl7pPr marL="8640257" indent="0">
              <a:buNone/>
              <a:defRPr sz="5040"/>
            </a:lvl7pPr>
            <a:lvl8pPr marL="10080300" indent="0">
              <a:buNone/>
              <a:defRPr sz="5040"/>
            </a:lvl8pPr>
            <a:lvl9pPr marL="11520343" indent="0">
              <a:buNone/>
              <a:defRPr sz="504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160925" y="17280255"/>
            <a:ext cx="11226065" cy="13120194"/>
          </a:xfrm>
        </p:spPr>
        <p:txBody>
          <a:bodyPr anchor="t">
            <a:normAutofit/>
          </a:bodyPr>
          <a:lstStyle>
            <a:lvl1pPr marL="0" indent="0">
              <a:buNone/>
              <a:defRPr sz="5669"/>
            </a:lvl1pPr>
            <a:lvl2pPr marL="1440043" indent="0">
              <a:buNone/>
              <a:defRPr sz="3780"/>
            </a:lvl2pPr>
            <a:lvl3pPr marL="2880086" indent="0">
              <a:buNone/>
              <a:defRPr sz="3150"/>
            </a:lvl3pPr>
            <a:lvl4pPr marL="4320129" indent="0">
              <a:buNone/>
              <a:defRPr sz="2835"/>
            </a:lvl4pPr>
            <a:lvl5pPr marL="5760171" indent="0">
              <a:buNone/>
              <a:defRPr sz="2835"/>
            </a:lvl5pPr>
            <a:lvl6pPr marL="7200214" indent="0">
              <a:buNone/>
              <a:defRPr sz="2835"/>
            </a:lvl6pPr>
            <a:lvl7pPr marL="8640257" indent="0">
              <a:buNone/>
              <a:defRPr sz="2835"/>
            </a:lvl7pPr>
            <a:lvl8pPr marL="10080300" indent="0">
              <a:buNone/>
              <a:defRPr sz="2835"/>
            </a:lvl8pPr>
            <a:lvl9pPr marL="11520343" indent="0">
              <a:buNone/>
              <a:defRPr sz="283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80025" y="38880577"/>
            <a:ext cx="18304913" cy="2300034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5885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026" y="28320418"/>
            <a:ext cx="20645555" cy="960014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1680025" y="3360049"/>
            <a:ext cx="25440375" cy="19680291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5040"/>
            </a:lvl1pPr>
            <a:lvl2pPr marL="1440043" indent="0">
              <a:buNone/>
              <a:defRPr sz="5040"/>
            </a:lvl2pPr>
            <a:lvl3pPr marL="2880086" indent="0">
              <a:buNone/>
              <a:defRPr sz="5040"/>
            </a:lvl3pPr>
            <a:lvl4pPr marL="4320129" indent="0">
              <a:buNone/>
              <a:defRPr sz="5040"/>
            </a:lvl4pPr>
            <a:lvl5pPr marL="5760171" indent="0">
              <a:buNone/>
              <a:defRPr sz="5040"/>
            </a:lvl5pPr>
            <a:lvl6pPr marL="7200214" indent="0">
              <a:buNone/>
              <a:defRPr sz="5040"/>
            </a:lvl6pPr>
            <a:lvl7pPr marL="8640257" indent="0">
              <a:buNone/>
              <a:defRPr sz="5040"/>
            </a:lvl7pPr>
            <a:lvl8pPr marL="10080300" indent="0">
              <a:buNone/>
              <a:defRPr sz="5040"/>
            </a:lvl8pPr>
            <a:lvl9pPr marL="11520343" indent="0">
              <a:buNone/>
              <a:defRPr sz="504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2400041" y="24213693"/>
            <a:ext cx="22933668" cy="2880043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5040"/>
            </a:lvl1pPr>
            <a:lvl2pPr marL="1440043" indent="0">
              <a:buFontTx/>
              <a:buNone/>
              <a:defRPr/>
            </a:lvl2pPr>
            <a:lvl3pPr marL="2880086" indent="0">
              <a:buFontTx/>
              <a:buNone/>
              <a:defRPr/>
            </a:lvl3pPr>
            <a:lvl4pPr marL="4320129" indent="0">
              <a:buFontTx/>
              <a:buNone/>
              <a:defRPr/>
            </a:lvl4pPr>
            <a:lvl5pPr marL="5760171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782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025" y="3360050"/>
            <a:ext cx="25440375" cy="18240269"/>
          </a:xfrm>
        </p:spPr>
        <p:txBody>
          <a:bodyPr anchor="ctr">
            <a:normAutofit/>
          </a:bodyPr>
          <a:lstStyle>
            <a:lvl1pPr algn="l">
              <a:defRPr sz="8819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0025" y="25920383"/>
            <a:ext cx="20105972" cy="12000177"/>
          </a:xfrm>
        </p:spPr>
        <p:txBody>
          <a:bodyPr anchor="ctr">
            <a:normAutofit/>
          </a:bodyPr>
          <a:lstStyle>
            <a:lvl1pPr marL="0" indent="0" algn="l">
              <a:buNone/>
              <a:defRPr sz="5669">
                <a:solidFill>
                  <a:schemeClr val="bg2">
                    <a:lumMod val="75000"/>
                  </a:schemeClr>
                </a:solidFill>
              </a:defRPr>
            </a:lvl1pPr>
            <a:lvl2pPr marL="144004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033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6996" y="3360050"/>
            <a:ext cx="21605947" cy="18240269"/>
          </a:xfrm>
        </p:spPr>
        <p:txBody>
          <a:bodyPr anchor="ctr">
            <a:normAutofit/>
          </a:bodyPr>
          <a:lstStyle>
            <a:lvl1pPr algn="l">
              <a:defRPr sz="8819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360051" y="21600319"/>
            <a:ext cx="20165548" cy="3040045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1440043" indent="0">
              <a:buFontTx/>
              <a:buNone/>
              <a:defRPr/>
            </a:lvl2pPr>
            <a:lvl3pPr marL="2880086" indent="0">
              <a:buFontTx/>
              <a:buNone/>
              <a:defRPr/>
            </a:lvl3pPr>
            <a:lvl4pPr marL="4320129" indent="0">
              <a:buFontTx/>
              <a:buNone/>
              <a:defRPr/>
            </a:lvl4pPr>
            <a:lvl5pPr marL="5760171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0026" y="27093754"/>
            <a:ext cx="20102221" cy="10826806"/>
          </a:xfrm>
        </p:spPr>
        <p:txBody>
          <a:bodyPr anchor="ctr">
            <a:normAutofit/>
          </a:bodyPr>
          <a:lstStyle>
            <a:lvl1pPr marL="0" indent="0" algn="l">
              <a:buNone/>
              <a:defRPr sz="6299">
                <a:solidFill>
                  <a:schemeClr val="bg2">
                    <a:lumMod val="75000"/>
                  </a:schemeClr>
                </a:solidFill>
              </a:defRPr>
            </a:lvl1pPr>
            <a:lvl2pPr marL="144004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720012" y="4476438"/>
            <a:ext cx="1440396" cy="3683683"/>
          </a:xfrm>
          <a:prstGeom prst="rect">
            <a:avLst/>
          </a:prstGeom>
        </p:spPr>
        <p:txBody>
          <a:bodyPr vert="horz" lIns="288004" tIns="144002" rIns="288004" bIns="144002" rtlCol="0" anchor="ctr">
            <a:noAutofit/>
          </a:bodyPr>
          <a:lstStyle/>
          <a:p>
            <a:pPr lvl="0"/>
            <a:r>
              <a:rPr lang="en-US" sz="251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40359" y="17440264"/>
            <a:ext cx="1440396" cy="3683683"/>
          </a:xfrm>
          <a:prstGeom prst="rect">
            <a:avLst/>
          </a:prstGeom>
        </p:spPr>
        <p:txBody>
          <a:bodyPr vert="horz" lIns="288004" tIns="144002" rIns="288004" bIns="144002" rtlCol="0" anchor="ctr">
            <a:noAutofit/>
          </a:bodyPr>
          <a:lstStyle/>
          <a:p>
            <a:pPr lvl="0" algn="r"/>
            <a:r>
              <a:rPr lang="en-US" sz="251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0923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026" y="21600319"/>
            <a:ext cx="20102221" cy="10692441"/>
          </a:xfrm>
        </p:spPr>
        <p:txBody>
          <a:bodyPr anchor="b">
            <a:normAutofit/>
          </a:bodyPr>
          <a:lstStyle>
            <a:lvl1pPr algn="l">
              <a:defRPr sz="8819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0025" y="32334213"/>
            <a:ext cx="20105972" cy="5586344"/>
          </a:xfrm>
        </p:spPr>
        <p:txBody>
          <a:bodyPr anchor="t">
            <a:normAutofit/>
          </a:bodyPr>
          <a:lstStyle>
            <a:lvl1pPr marL="0" indent="0" algn="l">
              <a:buNone/>
              <a:defRPr sz="5669">
                <a:solidFill>
                  <a:schemeClr val="bg2">
                    <a:lumMod val="75000"/>
                  </a:schemeClr>
                </a:solidFill>
              </a:defRPr>
            </a:lvl1pPr>
            <a:lvl2pPr marL="144004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626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6997" y="3360050"/>
            <a:ext cx="21605944" cy="18240269"/>
          </a:xfrm>
        </p:spPr>
        <p:txBody>
          <a:bodyPr anchor="ctr">
            <a:normAutofit/>
          </a:bodyPr>
          <a:lstStyle>
            <a:lvl1pPr algn="l">
              <a:defRPr sz="8819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80026" y="24480361"/>
            <a:ext cx="20102221" cy="661342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6299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0025" y="31200461"/>
            <a:ext cx="20102218" cy="6720099"/>
          </a:xfrm>
        </p:spPr>
        <p:txBody>
          <a:bodyPr anchor="t">
            <a:normAutofit/>
          </a:bodyPr>
          <a:lstStyle>
            <a:lvl1pPr marL="0" indent="0" algn="l">
              <a:buNone/>
              <a:defRPr sz="5669">
                <a:solidFill>
                  <a:schemeClr val="bg2">
                    <a:lumMod val="75000"/>
                  </a:schemeClr>
                </a:solidFill>
              </a:defRPr>
            </a:lvl1pPr>
            <a:lvl2pPr marL="144004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720012" y="4476438"/>
            <a:ext cx="1440396" cy="3683683"/>
          </a:xfrm>
          <a:prstGeom prst="rect">
            <a:avLst/>
          </a:prstGeom>
        </p:spPr>
        <p:txBody>
          <a:bodyPr vert="horz" lIns="288004" tIns="144002" rIns="288004" bIns="144002" rtlCol="0" anchor="ctr">
            <a:noAutofit/>
          </a:bodyPr>
          <a:lstStyle/>
          <a:p>
            <a:pPr lvl="0"/>
            <a:r>
              <a:rPr lang="en-US" sz="251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40359" y="17440264"/>
            <a:ext cx="1440396" cy="3683683"/>
          </a:xfrm>
          <a:prstGeom prst="rect">
            <a:avLst/>
          </a:prstGeom>
        </p:spPr>
        <p:txBody>
          <a:bodyPr vert="horz" lIns="288004" tIns="144002" rIns="288004" bIns="144002" rtlCol="0" anchor="ctr">
            <a:noAutofit/>
          </a:bodyPr>
          <a:lstStyle/>
          <a:p>
            <a:pPr lvl="0" algn="r"/>
            <a:r>
              <a:rPr lang="en-US" sz="251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0448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025" y="3360050"/>
            <a:ext cx="23703210" cy="1824026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8819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80026" y="24747036"/>
            <a:ext cx="20102221" cy="52800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6299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0025" y="30027124"/>
            <a:ext cx="20102218" cy="7893439"/>
          </a:xfrm>
        </p:spPr>
        <p:txBody>
          <a:bodyPr anchor="t">
            <a:normAutofit/>
          </a:bodyPr>
          <a:lstStyle>
            <a:lvl1pPr marL="0" indent="0" algn="l">
              <a:buNone/>
              <a:defRPr sz="5669">
                <a:solidFill>
                  <a:schemeClr val="bg2">
                    <a:lumMod val="75000"/>
                  </a:schemeClr>
                </a:solidFill>
              </a:defRPr>
            </a:lvl1pPr>
            <a:lvl2pPr marL="144004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328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026" y="28320418"/>
            <a:ext cx="20645555" cy="9600142"/>
          </a:xfrm>
        </p:spPr>
        <p:txBody>
          <a:bodyPr>
            <a:normAutofit/>
          </a:bodyPr>
          <a:lstStyle>
            <a:lvl1pPr algn="l">
              <a:defRPr sz="8819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80026" y="3360056"/>
            <a:ext cx="20645555" cy="23733705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158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81899" y="3360050"/>
            <a:ext cx="6438501" cy="27840411"/>
          </a:xfrm>
        </p:spPr>
        <p:txBody>
          <a:bodyPr vert="eaVert">
            <a:normAutofit/>
          </a:bodyPr>
          <a:lstStyle>
            <a:lvl1pPr>
              <a:defRPr sz="8819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80025" y="3360050"/>
            <a:ext cx="18425507" cy="3456051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427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1010310" y="24533701"/>
            <a:ext cx="7781079" cy="16746912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80026" y="28320418"/>
            <a:ext cx="20645555" cy="960014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0026" y="3360056"/>
            <a:ext cx="20645555" cy="237337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02693" y="38880596"/>
            <a:ext cx="3781042" cy="230003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1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E5BCB35-0F15-40AC-BA3D-E8ED88897B75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80025" y="38880577"/>
            <a:ext cx="18304913" cy="230003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31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486744" y="35140541"/>
            <a:ext cx="2698960" cy="4220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819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BB1A32F-DB57-461A-95C0-D9437CCF2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1236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1440043" rtl="0" eaLnBrk="1" latinLnBrk="0" hangingPunct="1">
        <a:spcBef>
          <a:spcPct val="0"/>
        </a:spcBef>
        <a:buNone/>
        <a:defRPr sz="10079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900027" indent="-900027" algn="l" defTabSz="1440043" rtl="0" eaLnBrk="1" latinLnBrk="0" hangingPunct="1">
        <a:spcBef>
          <a:spcPct val="20000"/>
        </a:spcBef>
        <a:spcAft>
          <a:spcPts val="189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6299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2340070" indent="-900027" algn="l" defTabSz="1440043" rtl="0" eaLnBrk="1" latinLnBrk="0" hangingPunct="1">
        <a:spcBef>
          <a:spcPct val="20000"/>
        </a:spcBef>
        <a:spcAft>
          <a:spcPts val="189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5669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3780112" indent="-900027" algn="l" defTabSz="1440043" rtl="0" eaLnBrk="1" latinLnBrk="0" hangingPunct="1">
        <a:spcBef>
          <a:spcPct val="20000"/>
        </a:spcBef>
        <a:spcAft>
          <a:spcPts val="189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504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4860145" indent="-540016" algn="l" defTabSz="1440043" rtl="0" eaLnBrk="1" latinLnBrk="0" hangingPunct="1">
        <a:spcBef>
          <a:spcPct val="20000"/>
        </a:spcBef>
        <a:spcAft>
          <a:spcPts val="189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41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6300187" indent="-540016" algn="l" defTabSz="1440043" rtl="0" eaLnBrk="1" latinLnBrk="0" hangingPunct="1">
        <a:spcBef>
          <a:spcPct val="20000"/>
        </a:spcBef>
        <a:spcAft>
          <a:spcPts val="189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41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7920236" indent="-720021" algn="l" defTabSz="1440043" rtl="0" eaLnBrk="1" latinLnBrk="0" hangingPunct="1">
        <a:spcBef>
          <a:spcPct val="20000"/>
        </a:spcBef>
        <a:spcAft>
          <a:spcPts val="189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41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9360278" indent="-720021" algn="l" defTabSz="1440043" rtl="0" eaLnBrk="1" latinLnBrk="0" hangingPunct="1">
        <a:spcBef>
          <a:spcPct val="20000"/>
        </a:spcBef>
        <a:spcAft>
          <a:spcPts val="189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41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10800321" indent="-720021" algn="l" defTabSz="1440043" rtl="0" eaLnBrk="1" latinLnBrk="0" hangingPunct="1">
        <a:spcBef>
          <a:spcPct val="20000"/>
        </a:spcBef>
        <a:spcAft>
          <a:spcPts val="189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41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12240364" indent="-720021" algn="l" defTabSz="1440043" rtl="0" eaLnBrk="1" latinLnBrk="0" hangingPunct="1">
        <a:spcBef>
          <a:spcPct val="20000"/>
        </a:spcBef>
        <a:spcAft>
          <a:spcPts val="189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41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4004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144004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144004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144004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144004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144004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144004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144004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144004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C8165E-D2CF-00B4-5598-0ADF6086C079}"/>
              </a:ext>
            </a:extLst>
          </p:cNvPr>
          <p:cNvSpPr txBox="1"/>
          <p:nvPr/>
        </p:nvSpPr>
        <p:spPr>
          <a:xfrm>
            <a:off x="-64053387" y="-103939778"/>
            <a:ext cx="85864614" cy="2308196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r>
              <a:rPr lang="ru-RU" sz="14399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Математическое моделирование самолетов при различных профилях крыла</a:t>
            </a:r>
            <a:endParaRPr lang="en-US" sz="14399" dirty="0">
              <a:solidFill>
                <a:schemeClr val="bg1"/>
              </a:solidFill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86AADCF-E364-B067-AEC9-0A3316B78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853284" y="-114109973"/>
            <a:ext cx="4265841" cy="38996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4222DB-0651-2273-B4C2-CBB8E3DA4C77}"/>
              </a:ext>
            </a:extLst>
          </p:cNvPr>
          <p:cNvSpPr txBox="1"/>
          <p:nvPr/>
        </p:nvSpPr>
        <p:spPr>
          <a:xfrm>
            <a:off x="-70094714" y="-113637286"/>
            <a:ext cx="69181974" cy="2308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399" dirty="0"/>
              <a:t>XXXII ВСЕРОССИЙСКИЕ ЮНОШЕСКИЕ ЧТЕНИЯ ИМЕНИ В.И. ВЕРНАДСКОГО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311E14-F9F2-6DDB-7DC5-667F4B0C4913}"/>
              </a:ext>
            </a:extLst>
          </p:cNvPr>
          <p:cNvSpPr txBox="1"/>
          <p:nvPr/>
        </p:nvSpPr>
        <p:spPr>
          <a:xfrm>
            <a:off x="-64053387" y="-107366792"/>
            <a:ext cx="85864614" cy="2308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399" dirty="0"/>
              <a:t>Название работы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5141AE-D58B-8CCB-F671-5E406A6A8108}"/>
              </a:ext>
            </a:extLst>
          </p:cNvPr>
          <p:cNvSpPr txBox="1"/>
          <p:nvPr/>
        </p:nvSpPr>
        <p:spPr>
          <a:xfrm>
            <a:off x="34331293" y="-103939785"/>
            <a:ext cx="72350657" cy="9665595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3480"/>
              </a:spcBef>
            </a:pPr>
            <a:r>
              <a:rPr lang="ru-RU" sz="14399" kern="1400" spc="-40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ДЕПАРТАМЕНТ ОБРАЗОВАНИЯ И НАУКИ ГОРОДА МОСКВЫ</a:t>
            </a:r>
            <a:r>
              <a:rPr lang="ru-RU" sz="14399" kern="1400" spc="4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399" kern="1400" spc="-40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ОБЩЕОБРАЗОВАТЕЛЬНОЕ</a:t>
            </a:r>
            <a:r>
              <a:rPr lang="ru-RU" sz="14399" kern="1400" spc="-2679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399" kern="1400" spc="-40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УЧРЕЖДЕНИЕ ГОРОДА</a:t>
            </a:r>
            <a:r>
              <a:rPr lang="ru-RU" sz="14399" kern="1400" spc="4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399" kern="1400" spc="-40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МОСКВЫ</a:t>
            </a:r>
          </a:p>
          <a:p>
            <a:pPr algn="just">
              <a:lnSpc>
                <a:spcPct val="150000"/>
              </a:lnSpc>
              <a:spcAft>
                <a:spcPts val="3200"/>
              </a:spcAft>
            </a:pPr>
            <a:r>
              <a:rPr lang="ru-RU" sz="14399" kern="1400" spc="-40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«ШКОЛА</a:t>
            </a:r>
            <a:r>
              <a:rPr lang="ru-RU" sz="14399" kern="1400" spc="-12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399" kern="1400" spc="-40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№</a:t>
            </a:r>
            <a:r>
              <a:rPr lang="ru-RU" sz="14399" kern="1400" spc="-8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399" kern="1400" spc="-40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1741»</a:t>
            </a:r>
            <a:endParaRPr lang="ru-RU" sz="14399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513048-4311-5001-DDBF-F19EF02C1D3B}"/>
              </a:ext>
            </a:extLst>
          </p:cNvPr>
          <p:cNvSpPr txBox="1"/>
          <p:nvPr/>
        </p:nvSpPr>
        <p:spPr>
          <a:xfrm>
            <a:off x="34331279" y="-107366792"/>
            <a:ext cx="85864614" cy="2308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399" dirty="0"/>
              <a:t>Образовательная организация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74719C-28BE-6391-05A8-7EB5175ABEE3}"/>
              </a:ext>
            </a:extLst>
          </p:cNvPr>
          <p:cNvSpPr txBox="1">
            <a:spLocks noChangeAspect="1"/>
          </p:cNvSpPr>
          <p:nvPr/>
        </p:nvSpPr>
        <p:spPr>
          <a:xfrm>
            <a:off x="-75213909" y="-90326879"/>
            <a:ext cx="60473334" cy="2308196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r>
              <a:rPr lang="ru-RU" sz="14399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Математическое моделирование самолетов при различных профилях крыла</a:t>
            </a:r>
            <a:endParaRPr lang="en-US" sz="14399" dirty="0">
              <a:solidFill>
                <a:schemeClr val="bg1"/>
              </a:solidFill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7EE963-1520-4976-8F72-7B4C8517AD2D}"/>
              </a:ext>
            </a:extLst>
          </p:cNvPr>
          <p:cNvSpPr txBox="1">
            <a:spLocks noChangeAspect="1"/>
          </p:cNvSpPr>
          <p:nvPr/>
        </p:nvSpPr>
        <p:spPr>
          <a:xfrm>
            <a:off x="-1127253" y="-90326879"/>
            <a:ext cx="60473334" cy="2308196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r>
              <a:rPr lang="ru-RU" sz="14399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Математическое моделирование самолетов при различных профилях крыла</a:t>
            </a:r>
            <a:endParaRPr lang="en-US" sz="14399" dirty="0">
              <a:solidFill>
                <a:schemeClr val="bg1"/>
              </a:solidFill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A8D1D7C8-2B8B-6E32-9BD4-6865563E3030}"/>
              </a:ext>
            </a:extLst>
          </p:cNvPr>
          <p:cNvGrpSpPr/>
          <p:nvPr/>
        </p:nvGrpSpPr>
        <p:grpSpPr>
          <a:xfrm>
            <a:off x="1530035" y="1471731"/>
            <a:ext cx="25740354" cy="39873867"/>
            <a:chOff x="1530035" y="1471731"/>
            <a:chExt cx="25740354" cy="39873867"/>
          </a:xfrm>
        </p:grpSpPr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7DC02D07-833D-6C9A-90BC-D3AF396436E5}"/>
                </a:ext>
              </a:extLst>
            </p:cNvPr>
            <p:cNvSpPr/>
            <p:nvPr/>
          </p:nvSpPr>
          <p:spPr>
            <a:xfrm>
              <a:off x="1530106" y="6933920"/>
              <a:ext cx="7560000" cy="10692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>
                <a:lnSpc>
                  <a:spcPct val="150000"/>
                </a:lnSpc>
                <a:spcAft>
                  <a:spcPts val="800"/>
                </a:spcAft>
                <a:buNone/>
              </a:pPr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  <a:buNone/>
              </a:pPr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Aft>
                  <a:spcPts val="800"/>
                </a:spcAft>
                <a:buNone/>
              </a:pP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Цели и задачи исследования</a:t>
              </a:r>
              <a:endParaRPr lang="ru-RU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marL="457200" lvl="0" indent="-457200" algn="just">
                <a:lnSpc>
                  <a:spcPct val="150000"/>
                </a:lnSpc>
                <a:spcAft>
                  <a:spcPts val="800"/>
                </a:spcAft>
                <a:buFont typeface="+mj-lt"/>
                <a:buAutoNum type="arabicPeriod"/>
                <a:tabLst>
                  <a:tab pos="457200" algn="l"/>
                </a:tabLst>
              </a:pP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Исследовать аэродинамические характеристики различных типов профилей крыльев.</a:t>
              </a:r>
            </a:p>
            <a:p>
              <a:pPr marL="457200" lvl="0" indent="-457200" algn="just">
                <a:lnSpc>
                  <a:spcPct val="150000"/>
                </a:lnSpc>
                <a:spcAft>
                  <a:spcPts val="800"/>
                </a:spcAft>
                <a:buFont typeface="+mj-lt"/>
                <a:buAutoNum type="arabicPeriod"/>
                <a:tabLst>
                  <a:tab pos="457200" algn="l"/>
                </a:tabLst>
              </a:pP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Выполнить математическое моделирование для сравнения влияния различных профилей на одном самолете (двигателе), провести те же самые пункты с другими самолетами (двигателями).</a:t>
              </a:r>
            </a:p>
            <a:p>
              <a:pPr marL="457200" lvl="0" indent="-457200" algn="just">
                <a:lnSpc>
                  <a:spcPct val="150000"/>
                </a:lnSpc>
                <a:spcAft>
                  <a:spcPts val="800"/>
                </a:spcAft>
                <a:buFont typeface="+mj-lt"/>
                <a:buAutoNum type="arabicPeriod"/>
                <a:tabLst>
                  <a:tab pos="457200" algn="l"/>
                </a:tabLst>
              </a:pP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Рассчитать и построить графики зависимости времени и дистанции взлета для нескольких типов самолетов (двигателей) с различными (3-4) профилями крыла.</a:t>
              </a:r>
            </a:p>
            <a:p>
              <a:pPr marL="457200" lvl="0" indent="-457200" algn="just">
                <a:lnSpc>
                  <a:spcPct val="150000"/>
                </a:lnSpc>
                <a:spcAft>
                  <a:spcPts val="800"/>
                </a:spcAft>
                <a:buFont typeface="+mj-lt"/>
                <a:buAutoNum type="arabicPeriod"/>
                <a:tabLst>
                  <a:tab pos="457200" algn="l"/>
                </a:tabLst>
              </a:pP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Сравнить эффективность работы различных профилей исходя из полученных данных (преимущественно дистанции и времени взлета).</a:t>
              </a:r>
            </a:p>
            <a:p>
              <a:pPr marL="457200" lvl="0" indent="-457200" algn="just">
                <a:lnSpc>
                  <a:spcPct val="150000"/>
                </a:lnSpc>
                <a:spcAft>
                  <a:spcPts val="800"/>
                </a:spcAft>
                <a:buFont typeface="+mj-lt"/>
                <a:buAutoNum type="arabicPeriod"/>
                <a:tabLst>
                  <a:tab pos="457200" algn="l"/>
                </a:tabLst>
              </a:pP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Выработать рекомендации по выбору наиболее эффективных профилей для различных типов самолетов (двигателей).</a:t>
              </a:r>
            </a:p>
            <a:p>
              <a:pPr indent="450215" algn="just">
                <a:lnSpc>
                  <a:spcPct val="150000"/>
                </a:lnSpc>
                <a:spcAft>
                  <a:spcPts val="800"/>
                </a:spcAft>
                <a:buNone/>
              </a:pP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Работа выполнялась в рамках учебного проекта в здании физического факультета МГУ им. М. В. Ломоносова. Период выполнения работы — с 23.09.2024 по 11.12.2024 (</a:t>
              </a:r>
              <a:r>
                <a:rPr lang="ru-RU" sz="2000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см</a:t>
              </a:r>
              <a:r>
                <a:rPr lang="en-US" sz="2000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. </a:t>
              </a:r>
              <a:r>
                <a:rPr lang="ru-RU" sz="2000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Приложение 1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).</a:t>
              </a:r>
            </a:p>
            <a:p>
              <a:pPr algn="just">
                <a:lnSpc>
                  <a:spcPct val="150000"/>
                </a:lnSpc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</a:pPr>
              <a:endParaRPr lang="ru-RU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</p:txBody>
        </p:sp>
        <p:sp>
          <p:nvSpPr>
            <p:cNvPr id="19" name="Прямоугольник: скругленные углы 18">
              <a:extLst>
                <a:ext uri="{FF2B5EF4-FFF2-40B4-BE49-F238E27FC236}">
                  <a16:creationId xmlns:a16="http://schemas.microsoft.com/office/drawing/2014/main" id="{E3CBF3B1-3E08-82EB-84F6-F4C2FB637ACA}"/>
                </a:ext>
              </a:extLst>
            </p:cNvPr>
            <p:cNvSpPr/>
            <p:nvPr/>
          </p:nvSpPr>
          <p:spPr>
            <a:xfrm>
              <a:off x="10620211" y="6933920"/>
              <a:ext cx="7560000" cy="10692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r>
                <a:rPr lang="ru-RU" sz="2000" b="1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ПРИЛОЖЕНИЕ 1</a:t>
              </a:r>
            </a:p>
            <a:p>
              <a:pPr algn="ctr"/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План реализации проекта</a:t>
              </a:r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r>
                <a:rPr lang="ru-RU" sz="2000" b="1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ПРИЛОЖЕНИЕ 2</a:t>
              </a:r>
            </a:p>
            <a:p>
              <a:pPr algn="ctr"/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Аэродинамика взлета самолета</a:t>
              </a:r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</p:txBody>
        </p:sp>
        <p:sp>
          <p:nvSpPr>
            <p:cNvPr id="20" name="Прямоугольник: скругленные углы 19">
              <a:extLst>
                <a:ext uri="{FF2B5EF4-FFF2-40B4-BE49-F238E27FC236}">
                  <a16:creationId xmlns:a16="http://schemas.microsoft.com/office/drawing/2014/main" id="{A6074640-24B7-B036-E5C4-DA6F64649BE8}"/>
                </a:ext>
              </a:extLst>
            </p:cNvPr>
            <p:cNvSpPr/>
            <p:nvPr/>
          </p:nvSpPr>
          <p:spPr>
            <a:xfrm>
              <a:off x="19710318" y="6933920"/>
              <a:ext cx="7560000" cy="10692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  <a:spcAft>
                  <a:spcPts val="800"/>
                </a:spcAft>
                <a:buNone/>
              </a:pPr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Aft>
                  <a:spcPts val="800"/>
                </a:spcAft>
                <a:buNone/>
              </a:pPr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Aft>
                  <a:spcPts val="800"/>
                </a:spcAft>
                <a:buNone/>
              </a:pP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Роль угла атаки</a:t>
              </a:r>
              <a:r>
                <a:rPr lang="en-US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в расчётах</a:t>
              </a:r>
            </a:p>
            <a:p>
              <a:pPr algn="ctr">
                <a:lnSpc>
                  <a:spcPct val="150000"/>
                </a:lnSpc>
                <a:spcAft>
                  <a:spcPts val="800"/>
                </a:spcAft>
                <a:buNone/>
              </a:pPr>
              <a:endParaRPr lang="ru-RU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indent="450215" algn="just">
                <a:lnSpc>
                  <a:spcPct val="150000"/>
                </a:lnSpc>
                <a:spcAft>
                  <a:spcPts val="800"/>
                </a:spcAft>
              </a:pP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Угол атаки — это угол между направлением потока воздуха и хордой крыла. Он напрямую влияет на аэродинамические характеристики крыла. Увеличение угла атаки приводит к увеличению подъемной силы и повышению сопротивление. Последнее может привести к срыву потока, уменьшив при этом эффективность крыла. Оптимальный угол атаки зависит от конфигурации самолета и условий полета</a:t>
              </a:r>
              <a:r>
                <a:rPr lang="en-US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,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в нашем случае</a:t>
              </a:r>
              <a:r>
                <a:rPr lang="ru-RU" sz="2000" b="0" i="0" dirty="0">
                  <a:solidFill>
                    <a:srgbClr val="2C2D2E"/>
                  </a:solidFill>
                  <a:effectLst/>
                  <a:latin typeface="Times New Roman Cyr" panose="02020603050405020304" pitchFamily="18" charset="0"/>
                  <a:cs typeface="Times New Roman Cyr" panose="02020603050405020304" pitchFamily="18" charset="0"/>
                </a:rPr>
                <a:t> –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угол атаки равный 8-9º (см. Приложение 2).</a:t>
              </a:r>
            </a:p>
            <a:p>
              <a:pPr indent="449580" algn="just">
                <a:lnSpc>
                  <a:spcPct val="150000"/>
                </a:lnSpc>
              </a:pPr>
              <a:r>
                <a:rPr lang="ru-RU" sz="2000" dirty="0">
                  <a:effectLst/>
                  <a:latin typeface="Times New Roman Cyr" panose="02020603050405020304" pitchFamily="18" charset="0"/>
                  <a:ea typeface="Times New Roman" panose="02020603050405020304" pitchFamily="18" charset="0"/>
                  <a:cs typeface="Times New Roman Cyr" panose="02020603050405020304" pitchFamily="18" charset="0"/>
                </a:rPr>
                <a:t>Модель программного кода для проведения расчётов и построения графиков приведена ниже (см. Приложение 3).</a:t>
              </a:r>
            </a:p>
            <a:p>
              <a:pPr indent="449580" algn="just">
                <a:lnSpc>
                  <a:spcPct val="150000"/>
                </a:lnSpc>
              </a:pPr>
              <a:endParaRPr lang="ru-RU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indent="449580" algn="just">
                <a:lnSpc>
                  <a:spcPct val="150000"/>
                </a:lnSpc>
              </a:pPr>
              <a:endParaRPr lang="ru-RU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indent="449580" algn="just">
                <a:lnSpc>
                  <a:spcPct val="150000"/>
                </a:lnSpc>
              </a:pPr>
              <a:endParaRPr lang="ru-RU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indent="449580" algn="just">
                <a:lnSpc>
                  <a:spcPct val="150000"/>
                </a:lnSpc>
              </a:pPr>
              <a:endParaRPr lang="ru-RU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indent="449580" algn="just">
                <a:lnSpc>
                  <a:spcPct val="150000"/>
                </a:lnSpc>
              </a:pPr>
              <a:endParaRPr lang="ru-RU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indent="449580" algn="just">
                <a:lnSpc>
                  <a:spcPct val="150000"/>
                </a:lnSpc>
              </a:pPr>
              <a:endParaRPr lang="ru-RU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indent="449580" algn="just">
                <a:lnSpc>
                  <a:spcPct val="150000"/>
                </a:lnSpc>
              </a:pPr>
              <a:endParaRPr lang="ru-RU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indent="449580" algn="just">
                <a:lnSpc>
                  <a:spcPct val="150000"/>
                </a:lnSpc>
              </a:pPr>
              <a:endParaRPr lang="ru-RU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indent="449580" algn="just">
                <a:lnSpc>
                  <a:spcPct val="150000"/>
                </a:lnSpc>
              </a:pPr>
              <a:endParaRPr lang="ru-RU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Прямоугольник: скругленные углы 20">
                  <a:extLst>
                    <a:ext uri="{FF2B5EF4-FFF2-40B4-BE49-F238E27FC236}">
                      <a16:creationId xmlns:a16="http://schemas.microsoft.com/office/drawing/2014/main" id="{54BB93D0-79FD-80DF-ED68-94E7334537DE}"/>
                    </a:ext>
                  </a:extLst>
                </p:cNvPr>
                <p:cNvSpPr/>
                <p:nvPr/>
              </p:nvSpPr>
              <p:spPr>
                <a:xfrm>
                  <a:off x="1530106" y="18793759"/>
                  <a:ext cx="7560000" cy="1069200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  <a:spcAft>
                      <a:spcPts val="800"/>
                    </a:spcAft>
                    <a:buNone/>
                  </a:pPr>
                  <a:endParaRPr lang="ru-RU" sz="2000" b="1" kern="100" dirty="0">
                    <a:effectLst/>
                    <a:latin typeface="Times New Roman Cyr" panose="02020603050405020304" pitchFamily="18" charset="0"/>
                    <a:ea typeface="Aptos" panose="020B0004020202020204" pitchFamily="34" charset="0"/>
                    <a:cs typeface="Times New Roman Cyr" panose="02020603050405020304" pitchFamily="18" charset="0"/>
                  </a:endParaRPr>
                </a:p>
                <a:p>
                  <a:pPr algn="ctr">
                    <a:lnSpc>
                      <a:spcPct val="150000"/>
                    </a:lnSpc>
                    <a:spcAft>
                      <a:spcPts val="800"/>
                    </a:spcAft>
                    <a:buNone/>
                  </a:pPr>
                  <a:r>
                    <a:rPr lang="ru-RU" sz="2000" b="1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Расчеты аэродинамических характеристик</a:t>
                  </a:r>
                  <a:endParaRPr lang="ru-RU" sz="2000" kern="100" dirty="0">
                    <a:effectLst/>
                    <a:latin typeface="Times New Roman Cyr" panose="02020603050405020304" pitchFamily="18" charset="0"/>
                    <a:ea typeface="Aptos" panose="020B0004020202020204" pitchFamily="34" charset="0"/>
                    <a:cs typeface="Times New Roman Cyr" panose="02020603050405020304" pitchFamily="18" charset="0"/>
                  </a:endParaRPr>
                </a:p>
                <a:p>
                  <a:pPr indent="450215" algn="just">
                    <a:lnSpc>
                      <a:spcPct val="150000"/>
                    </a:lnSpc>
                    <a:spcAft>
                      <a:spcPts val="800"/>
                    </a:spcAft>
                    <a:buNone/>
                  </a:pPr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В исследовании использованы методы математического моделирования и математико-физические формулы для расчета аэродинамических характеристик самолёта. Моделирование было выполнено с использованием </a:t>
                  </a:r>
                  <a:r>
                    <a:rPr lang="ru-RU" sz="2000" b="1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Python</a:t>
                  </a:r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 и библиотек</a:t>
                  </a:r>
                  <a:r>
                    <a:rPr lang="ru-RU" sz="2000" b="1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 </a:t>
                  </a:r>
                  <a:r>
                    <a:rPr lang="ru-RU" sz="2000" b="1" kern="100" dirty="0" err="1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NumPy</a:t>
                  </a:r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 и </a:t>
                  </a:r>
                  <a:r>
                    <a:rPr lang="ru-RU" sz="2000" b="1" kern="100" dirty="0" err="1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Matplotlib</a:t>
                  </a:r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 для расчета дополнительных параметров (например, скорость, ускорение) и построения графиков.</a:t>
                  </a:r>
                  <a:endParaRPr lang="en-US" sz="2000" kern="100" dirty="0">
                    <a:effectLst/>
                    <a:latin typeface="Times New Roman Cyr" panose="02020603050405020304" pitchFamily="18" charset="0"/>
                    <a:ea typeface="Aptos" panose="020B0004020202020204" pitchFamily="34" charset="0"/>
                    <a:cs typeface="Times New Roman Cyr" panose="02020603050405020304" pitchFamily="18" charset="0"/>
                  </a:endParaRPr>
                </a:p>
                <a:p>
                  <a:pPr algn="just">
                    <a:lnSpc>
                      <a:spcPct val="150000"/>
                    </a:lnSpc>
                    <a:spcAft>
                      <a:spcPts val="800"/>
                    </a:spcAft>
                    <a:buNone/>
                  </a:pPr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Основные формулы, использованные в моделировании:</a:t>
                  </a:r>
                </a:p>
                <a:p>
                  <a:pPr marL="342900" lvl="0" indent="-342900" algn="just">
                    <a:lnSpc>
                      <a:spcPct val="150000"/>
                    </a:lnSpc>
                    <a:spcAft>
                      <a:spcPts val="800"/>
                    </a:spcAft>
                    <a:buNone/>
                    <a:tabLst>
                      <a:tab pos="457200" algn="l"/>
                    </a:tabLst>
                  </a:pPr>
                  <a:r>
                    <a:rPr lang="ru-RU" sz="2000" b="1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Сила сопротивления</a:t>
                  </a:r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ru-RU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𝐹𝑑</m:t>
                      </m:r>
                      <m:r>
                        <a:rPr lang="en-US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𝑟𝑎𝑔</m:t>
                      </m:r>
                    </m:oMath>
                  </a14:m>
                  <a:r>
                    <a:rPr lang="en-US" sz="21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 </a:t>
                  </a:r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=</a:t>
                  </a:r>
                  <a14:m>
                    <m:oMath xmlns:m="http://schemas.openxmlformats.org/officeDocument/2006/math">
                      <m:r>
                        <a:rPr lang="ru-RU" sz="23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sz="23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𝜌</m:t>
                      </m:r>
                      <m:r>
                        <a:rPr lang="ru-RU" sz="23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sSup>
                        <m:sSupPr>
                          <m:ctrlP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endParaRPr lang="ru-RU" sz="2300" kern="100" dirty="0">
                    <a:effectLst/>
                    <a:latin typeface="Times New Roman Cyr" panose="02020603050405020304" pitchFamily="18" charset="0"/>
                    <a:ea typeface="Aptos" panose="020B0004020202020204" pitchFamily="34" charset="0"/>
                    <a:cs typeface="Times New Roman Cyr" panose="02020603050405020304" pitchFamily="18" charset="0"/>
                  </a:endParaRPr>
                </a:p>
                <a:p>
                  <a:pPr marL="342900" lvl="0" indent="-342900" algn="just">
                    <a:lnSpc>
                      <a:spcPct val="150000"/>
                    </a:lnSpc>
                    <a:spcAft>
                      <a:spcPts val="800"/>
                    </a:spcAft>
                    <a:buNone/>
                    <a:tabLst>
                      <a:tab pos="457200" algn="l"/>
                    </a:tabLst>
                  </a:pPr>
                  <a:r>
                    <a:rPr lang="ru-RU" sz="2000" b="1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Подъемная сила</a:t>
                  </a:r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ru-RU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𝐹𝑙</m:t>
                      </m:r>
                      <m:r>
                        <a:rPr lang="en-US" sz="21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𝑖𝑓𝑡</m:t>
                      </m:r>
                    </m:oMath>
                  </a14:m>
                  <a:r>
                    <a:rPr lang="en-US" sz="21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 </a:t>
                  </a:r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=</a:t>
                  </a:r>
                  <a14:m>
                    <m:oMath xmlns:m="http://schemas.openxmlformats.org/officeDocument/2006/math">
                      <m:r>
                        <a:rPr lang="ru-RU" sz="23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sz="23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𝜌</m:t>
                      </m:r>
                      <m:r>
                        <a:rPr lang="ru-RU" sz="23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  <m:sSup>
                        <m:sSupPr>
                          <m:ctrlP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ru-RU" sz="23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endParaRPr lang="ru-RU" sz="2300" kern="100" dirty="0">
                    <a:effectLst/>
                    <a:latin typeface="Times New Roman Cyr" panose="02020603050405020304" pitchFamily="18" charset="0"/>
                    <a:ea typeface="Aptos" panose="020B0004020202020204" pitchFamily="34" charset="0"/>
                    <a:cs typeface="Times New Roman Cyr" panose="02020603050405020304" pitchFamily="18" charset="0"/>
                  </a:endParaRPr>
                </a:p>
                <a:p>
                  <a:pPr marL="342900" lvl="0" indent="-342900" algn="just">
                    <a:lnSpc>
                      <a:spcPct val="150000"/>
                    </a:lnSpc>
                    <a:spcAft>
                      <a:spcPts val="800"/>
                    </a:spcAft>
                    <a:buNone/>
                    <a:tabLst>
                      <a:tab pos="457200" algn="l"/>
                    </a:tabLst>
                  </a:pPr>
                  <a:r>
                    <a:rPr lang="ru-RU" sz="2000" b="1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Ускорение</a:t>
                  </a:r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ru-RU" sz="27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𝑎</m:t>
                      </m:r>
                    </m:oMath>
                  </a14:m>
                  <a:r>
                    <a:rPr lang="ru-RU" sz="27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 =</a:t>
                  </a:r>
                  <a14:m>
                    <m:oMath xmlns:m="http://schemas.openxmlformats.org/officeDocument/2006/math">
                      <m:r>
                        <a:rPr lang="ru-RU" sz="27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ru-RU" sz="27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27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𝐹</m:t>
                          </m:r>
                          <m:r>
                            <a:rPr lang="en-US" sz="27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ru-RU" sz="27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h</m:t>
                          </m:r>
                          <m:r>
                            <a:rPr lang="en-US" sz="27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𝑟𝑢𝑠𝑡</m:t>
                          </m:r>
                          <m:r>
                            <a:rPr lang="ru-RU" sz="27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ru-RU" sz="27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𝐹𝑑𝑟𝑎𝑔</m:t>
                          </m:r>
                          <m:r>
                            <a:rPr lang="ru-RU" sz="27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ru-RU" sz="27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𝐹𝑙𝑖𝑓𝑡</m:t>
                          </m:r>
                          <m:func>
                            <m:funcPr>
                              <m:ctrlPr>
                                <a:rPr lang="ru-RU" sz="27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a:rPr lang="ru-RU" sz="27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𝑠𝑖𝑛</m:t>
                              </m:r>
                            </m:fName>
                            <m:e>
                              <m:r>
                                <a:rPr lang="ru-RU" sz="27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</m:func>
                          <m:r>
                            <a:rPr lang="ru-RU" sz="27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ru-RU" sz="27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𝑚𝑔</m:t>
                          </m:r>
                          <m:func>
                            <m:funcPr>
                              <m:ctrlPr>
                                <a:rPr lang="ru-RU" sz="27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a:rPr lang="ru-RU" sz="27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𝑠𝑖𝑛</m:t>
                              </m:r>
                            </m:fName>
                            <m:e>
                              <m:r>
                                <a:rPr lang="ru-RU" sz="27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𝜑</m:t>
                              </m:r>
                            </m:e>
                          </m:func>
                        </m:num>
                        <m:den>
                          <m:r>
                            <a:rPr lang="ru-RU" sz="27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</m:oMath>
                  </a14:m>
                  <a:endParaRPr lang="ru-RU" sz="2700" kern="100" dirty="0">
                    <a:effectLst/>
                    <a:latin typeface="Times New Roman Cyr" panose="02020603050405020304" pitchFamily="18" charset="0"/>
                    <a:ea typeface="Aptos" panose="020B0004020202020204" pitchFamily="34" charset="0"/>
                    <a:cs typeface="Times New Roman Cyr" panose="02020603050405020304" pitchFamily="18" charset="0"/>
                  </a:endParaRPr>
                </a:p>
                <a:p>
                  <a:pPr algn="just">
                    <a:lnSpc>
                      <a:spcPct val="150000"/>
                    </a:lnSpc>
                    <a:spcAft>
                      <a:spcPts val="800"/>
                    </a:spcAft>
                  </a:pPr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где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</m:oMath>
                  </a14:m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Times New Roman" panose="02020603050405020304" pitchFamily="18" charset="0"/>
                      <a:cs typeface="Times New Roman Cyr" panose="02020603050405020304" pitchFamily="18" charset="0"/>
                    </a:rPr>
                    <a:t> </a:t>
                  </a:r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— коэффициент сопротивления,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</m:oMath>
                  </a14:m>
                  <a:r>
                    <a:rPr lang="ru-RU" sz="2000" kern="100" dirty="0">
                      <a:solidFill>
                        <a:srgbClr val="FFFFFF"/>
                      </a:solidFill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 </a:t>
                  </a:r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— коэффициент подъемной силы, </a:t>
                  </a:r>
                  <a14:m>
                    <m:oMath xmlns:m="http://schemas.openxmlformats.org/officeDocument/2006/math">
                      <m:r>
                        <a:rPr lang="ru-RU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ru-RU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𝑟𝑢𝑠𝑡</m:t>
                      </m:r>
                    </m:oMath>
                  </a14:m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  — суммарная сила тяги двигателей, </a:t>
                  </a:r>
                  <a14:m>
                    <m:oMath xmlns:m="http://schemas.openxmlformats.org/officeDocument/2006/math">
                      <m:r>
                        <a:rPr lang="ru-RU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𝑆</m:t>
                      </m:r>
                    </m:oMath>
                  </a14:m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Times New Roman" panose="02020603050405020304" pitchFamily="18" charset="0"/>
                      <a:cs typeface="Times New Roman Cyr" panose="02020603050405020304" pitchFamily="18" charset="0"/>
                    </a:rPr>
                    <a:t> </a:t>
                  </a:r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— площадь крыла,  </a:t>
                  </a:r>
                  <a14:m>
                    <m:oMath xmlns:m="http://schemas.openxmlformats.org/officeDocument/2006/math">
                      <m:r>
                        <a:rPr lang="ru-RU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𝑣</m:t>
                      </m:r>
                    </m:oMath>
                  </a14:m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 — скорость самолета, </a:t>
                  </a:r>
                  <a14:m>
                    <m:oMath xmlns:m="http://schemas.openxmlformats.org/officeDocument/2006/math">
                      <m:r>
                        <a:rPr lang="ru-RU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𝜑</m:t>
                      </m:r>
                      <m:r>
                        <a:rPr lang="ru-RU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— угол взлета, </a:t>
                  </a:r>
                  <a14:m>
                    <m:oMath xmlns:m="http://schemas.openxmlformats.org/officeDocument/2006/math">
                      <m:r>
                        <a:rPr lang="ru-RU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𝑚</m:t>
                      </m:r>
                    </m:oMath>
                  </a14:m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Times New Roman" panose="02020603050405020304" pitchFamily="18" charset="0"/>
                      <a:cs typeface="Times New Roman Cyr" panose="02020603050405020304" pitchFamily="18" charset="0"/>
                    </a:rPr>
                    <a:t> </a:t>
                  </a:r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— масса самолета, </a:t>
                  </a:r>
                  <a14:m>
                    <m:oMath xmlns:m="http://schemas.openxmlformats.org/officeDocument/2006/math">
                      <m:r>
                        <a:rPr lang="ru-RU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𝜌</m:t>
                      </m:r>
                    </m:oMath>
                  </a14:m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Times New Roman" panose="02020603050405020304" pitchFamily="18" charset="0"/>
                      <a:cs typeface="Times New Roman Cyr" panose="02020603050405020304" pitchFamily="18" charset="0"/>
                    </a:rPr>
                    <a:t> </a:t>
                  </a:r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— плотность воздуха, </a:t>
                  </a:r>
                  <a14:m>
                    <m:oMath xmlns:m="http://schemas.openxmlformats.org/officeDocument/2006/math">
                      <m:r>
                        <a:rPr lang="ru-RU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ru-RU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lang="ru-RU" sz="2000" kern="100" dirty="0">
                      <a:effectLst/>
                      <a:latin typeface="Times New Roman Cyr" panose="02020603050405020304" pitchFamily="18" charset="0"/>
                      <a:ea typeface="Aptos" panose="020B0004020202020204" pitchFamily="34" charset="0"/>
                      <a:cs typeface="Times New Roman Cyr" panose="02020603050405020304" pitchFamily="18" charset="0"/>
                    </a:rPr>
                    <a:t>— ускорение свободного падения.</a:t>
                  </a:r>
                </a:p>
                <a:p>
                  <a:pPr algn="ctr"/>
                  <a:endParaRPr lang="ru-RU" sz="2000" dirty="0">
                    <a:latin typeface="Times New Roman Cyr" panose="02020603050405020304" pitchFamily="18" charset="0"/>
                    <a:cs typeface="Times New Roman Cyr" panose="02020603050405020304" pitchFamily="18" charset="0"/>
                  </a:endParaRPr>
                </a:p>
                <a:p>
                  <a:pPr algn="ctr"/>
                  <a:endParaRPr lang="ru-RU" sz="2000" dirty="0">
                    <a:latin typeface="Times New Roman Cyr" panose="02020603050405020304" pitchFamily="18" charset="0"/>
                    <a:cs typeface="Times New Roman Cyr" panose="02020603050405020304" pitchFamily="18" charset="0"/>
                  </a:endParaRPr>
                </a:p>
                <a:p>
                  <a:pPr algn="ctr"/>
                  <a:endParaRPr lang="ru-RU" sz="2000" dirty="0">
                    <a:latin typeface="Times New Roman Cyr" panose="02020603050405020304" pitchFamily="18" charset="0"/>
                    <a:cs typeface="Times New Roman Cyr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1" name="Прямоугольник: скругленные углы 20">
                  <a:extLst>
                    <a:ext uri="{FF2B5EF4-FFF2-40B4-BE49-F238E27FC236}">
                      <a16:creationId xmlns:a16="http://schemas.microsoft.com/office/drawing/2014/main" id="{54BB93D0-79FD-80DF-ED68-94E7334537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0106" y="18793759"/>
                  <a:ext cx="7560000" cy="10692000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7FEFC80C-BC28-3C91-93C1-C5AD0DED542B}"/>
                </a:ext>
              </a:extLst>
            </p:cNvPr>
            <p:cNvSpPr/>
            <p:nvPr/>
          </p:nvSpPr>
          <p:spPr>
            <a:xfrm>
              <a:off x="10620212" y="18793759"/>
              <a:ext cx="7560000" cy="10692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2000" b="1" dirty="0">
                  <a:latin typeface="Times New Roman Cyr" panose="02020603050405020304" pitchFamily="18" charset="0"/>
                  <a:cs typeface="Times New Roman Cyr" panose="02020603050405020304" pitchFamily="18" charset="0"/>
                </a:rPr>
                <a:t>ПРИЛОЖЕНИЕ 3</a:t>
              </a: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r>
                <a:rPr lang="ru-RU" sz="2000" b="1" dirty="0">
                  <a:latin typeface="Times New Roman Cyr" panose="02020603050405020304" pitchFamily="18" charset="0"/>
                  <a:cs typeface="Times New Roman Cyr" panose="02020603050405020304" pitchFamily="18" charset="0"/>
                </a:rPr>
                <a:t>Алгоритм расчета математической модели</a:t>
              </a: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</p:txBody>
        </p:sp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0DFDD4EC-394D-D1E7-D88E-F1B1E6CD5919}"/>
                </a:ext>
              </a:extLst>
            </p:cNvPr>
            <p:cNvSpPr/>
            <p:nvPr/>
          </p:nvSpPr>
          <p:spPr>
            <a:xfrm>
              <a:off x="19710318" y="18793759"/>
              <a:ext cx="7560000" cy="10692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457200" indent="450000" algn="just">
                <a:lnSpc>
                  <a:spcPct val="150000"/>
                </a:lnSpc>
                <a:buNone/>
              </a:pPr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marL="457200" indent="450000" algn="ctr">
                <a:lnSpc>
                  <a:spcPct val="150000"/>
                </a:lnSpc>
                <a:buNone/>
              </a:pP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Выбор двигателей и профилей крыла</a:t>
              </a:r>
              <a:endParaRPr lang="ru-RU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marL="457200" indent="450000" algn="just">
                <a:lnSpc>
                  <a:spcPct val="150000"/>
                </a:lnSpc>
                <a:buNone/>
              </a:pPr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indent="450000" algn="just">
                <a:lnSpc>
                  <a:spcPct val="150000"/>
                </a:lnSpc>
              </a:pP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SJ-100 с двигателем ПД-8</a:t>
              </a:r>
              <a:r>
                <a:rPr lang="en-US" sz="2000" b="1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. 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Для проведения подсчетов была выбрана модель самолета SJ-100 в целях сравнения с более тяжелыми моделями.</a:t>
              </a:r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indent="450000" algn="just">
                <a:lnSpc>
                  <a:spcPct val="150000"/>
                </a:lnSpc>
                <a:buNone/>
              </a:pP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Ил-96-300 с двигателем ПС-90А</a:t>
              </a:r>
              <a:r>
                <a:rPr lang="en-US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.</a:t>
              </a:r>
              <a:r>
                <a:rPr lang="en-US" sz="2000" b="1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Для исследования был выбран двигатель ПС-90А и модель самолета Ил-96-300. </a:t>
              </a:r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indent="450000" algn="just">
                <a:lnSpc>
                  <a:spcPct val="150000"/>
                </a:lnSpc>
                <a:buNone/>
              </a:pP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Ил-96-400M с двигателем ПД-35</a:t>
              </a:r>
              <a:r>
                <a:rPr lang="en-US" sz="2000" b="1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. 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Для наиболее мощного двигателя ПД-35 была выбрана модель самолета Ил-96-400M. </a:t>
              </a:r>
              <a:endParaRPr lang="en-US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indent="450000" algn="just">
                <a:lnSpc>
                  <a:spcPct val="150000"/>
                </a:lnSpc>
                <a:buNone/>
              </a:pPr>
              <a:endParaRPr lang="en-US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Результаты математического моделирования</a:t>
              </a:r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</a:pPr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en-US" sz="2000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1.1. </a:t>
              </a:r>
              <a:r>
                <a:rPr lang="en-US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SJ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-100 (ПД-8)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с п. A-18%: Время взлёта: 40.56 секунд, дистанция взлёта: 1096.37 метров.</a:t>
              </a:r>
            </a:p>
            <a:p>
              <a:pPr lvl="0" algn="just">
                <a:lnSpc>
                  <a:spcPct val="150000"/>
                </a:lnSpc>
              </a:pPr>
              <a:r>
                <a:rPr lang="en-US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1.2. </a:t>
              </a:r>
              <a:r>
                <a:rPr lang="en-US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SJ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-100 (ПД-8)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с п. B-16%: Время взлёта: 41.05 секунд, дистанция взлёта: 1116.44 метров.</a:t>
              </a:r>
            </a:p>
            <a:p>
              <a:pPr lvl="0" algn="just">
                <a:lnSpc>
                  <a:spcPct val="150000"/>
                </a:lnSpc>
                <a:spcAft>
                  <a:spcPts val="800"/>
                </a:spcAft>
              </a:pPr>
              <a:r>
                <a:rPr lang="en-US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1.3. </a:t>
              </a:r>
              <a:r>
                <a:rPr lang="en-US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SJ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-100 (ПД-8)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с п. P-II-10%: Время взлёта: 40.64 секунд, дистанция взлёта: 1099.66 метров.</a:t>
              </a:r>
            </a:p>
            <a:p>
              <a:pPr>
                <a:buNone/>
              </a:pPr>
              <a:r>
                <a:rPr lang="en-US" sz="20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1.4. </a:t>
              </a:r>
              <a:r>
                <a:rPr lang="en-US" sz="2000" b="1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SJ</a:t>
              </a:r>
              <a:r>
                <a:rPr lang="ru-RU" sz="2000" b="1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-100 (ПД-8)</a:t>
              </a:r>
              <a:r>
                <a:rPr lang="ru-RU" sz="20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с п. ЦАГИ-6-12%: Время взлёта: 40.84 секунд, дистанция взлёта: 1107.85 метров.</a:t>
              </a:r>
              <a:endParaRPr lang="en-US" sz="20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indent="450000" algn="just">
                <a:lnSpc>
                  <a:spcPct val="150000"/>
                </a:lnSpc>
                <a:buNone/>
              </a:pPr>
              <a:endParaRPr lang="en-US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</p:txBody>
        </p:sp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FB8C58BE-8BA2-24E5-4F96-F732C1EAC6D7}"/>
                </a:ext>
              </a:extLst>
            </p:cNvPr>
            <p:cNvSpPr/>
            <p:nvPr/>
          </p:nvSpPr>
          <p:spPr>
            <a:xfrm>
              <a:off x="1530106" y="30653598"/>
              <a:ext cx="7560000" cy="10692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Aft>
                  <a:spcPts val="800"/>
                </a:spcAft>
                <a:buNone/>
              </a:pPr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Aft>
                  <a:spcPts val="800"/>
                </a:spcAft>
                <a:buNone/>
              </a:pPr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Aft>
                  <a:spcPts val="800"/>
                </a:spcAft>
                <a:buNone/>
              </a:pPr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Aft>
                  <a:spcPts val="800"/>
                </a:spcAft>
                <a:buNone/>
              </a:pPr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Aft>
                  <a:spcPts val="800"/>
                </a:spcAft>
                <a:buNone/>
              </a:pPr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Aft>
                  <a:spcPts val="800"/>
                </a:spcAft>
                <a:buNone/>
              </a:pP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Результаты математического моделирования</a:t>
              </a:r>
              <a:r>
                <a:rPr lang="en-US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(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продолжение)</a:t>
              </a:r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Aft>
                  <a:spcPts val="800"/>
                </a:spcAft>
                <a:buNone/>
              </a:pPr>
              <a:endParaRPr lang="ru-RU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lvl="0" algn="just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ru-RU" sz="2000" b="1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1</a:t>
              </a:r>
              <a:r>
                <a:rPr lang="en-US" sz="2000" b="1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.1. 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Ил-96-300 (ПС-90А)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с профилем ЦАГИ-6-16%</a:t>
              </a:r>
              <a:r>
                <a:rPr lang="en-US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: 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Время взлёта: 61.28 секунд, дистанция взлёта: 2220.87 метров.</a:t>
              </a:r>
              <a:endParaRPr lang="en-US" sz="2000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lvl="0" algn="just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1.2. 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Ил-96-300 (ПС-90А)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с п. P-II-14% (ЦАГИ-718): Время взлёта: 61.02 секунд, дистанция взлёта: 2206.82 метров.</a:t>
              </a:r>
              <a:endParaRPr lang="en-US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lvl="0" algn="just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1.3. 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Ил-96-300 (ПС-90А)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с п. B-12%</a:t>
              </a:r>
              <a:r>
                <a:rPr lang="en-US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:</a:t>
              </a:r>
              <a:r>
                <a:rPr lang="en-US" sz="2000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Время взлёта: 61.62 секунд, дистанция взлёта: 2239.5 метров.</a:t>
              </a:r>
              <a:endParaRPr lang="en-US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lvl="0" algn="just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2000" b="1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2.1. 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Ил-96-400</a:t>
              </a:r>
              <a:r>
                <a:rPr lang="en-US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M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(ПД-35)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с п. P-II-14% (ЦАГИ-718):</a:t>
              </a:r>
              <a:r>
                <a:rPr lang="en-US" sz="2000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Время взлёта: 59.33 секунд, дистанция взлёта: 2144.97 метров.</a:t>
              </a:r>
              <a:endParaRPr lang="en-US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lvl="0" algn="just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2000" b="1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2.2. 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Ил-96-400</a:t>
              </a:r>
              <a:r>
                <a:rPr lang="en-US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M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(ПД-35)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с п. ЦАГИ-6-19%:</a:t>
              </a:r>
              <a:r>
                <a:rPr lang="en-US" sz="2000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Время взлёта: 59.98 секунд, дистанция взлёта: 2180.57 метров.</a:t>
              </a:r>
              <a:endParaRPr lang="en-US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lvl="0" algn="just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2000" b="1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2.3. 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Ил-96-400</a:t>
              </a:r>
              <a:r>
                <a:rPr lang="en-US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M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(ПД-35)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с п. A-18%: Время взлёта: 59.14 секунд, дистанция взлёта: 2134.65 метров.</a:t>
              </a:r>
              <a:endParaRPr lang="en-US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lvl="0" algn="just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US" sz="2000" b="1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2.4. 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Ил-96-400</a:t>
              </a:r>
              <a:r>
                <a:rPr lang="en-US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M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(ПД-35)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с п. B-16%: Время взлёта: 59.94 секунд, дистанция взлёта: 2178.54 метров.</a:t>
              </a:r>
              <a:endParaRPr lang="en-US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lvl="0" algn="just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endParaRPr lang="en-US" sz="2000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lvl="0" algn="just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endParaRPr lang="en-US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lvl="0" algn="just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endParaRPr lang="en-US" sz="2000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lvl="0" algn="just">
                <a:lnSpc>
                  <a:spcPct val="150000"/>
                </a:lnSpc>
                <a:spcAft>
                  <a:spcPts val="800"/>
                </a:spcAft>
                <a:tabLst>
                  <a:tab pos="457200" algn="l"/>
                </a:tabLst>
              </a:pPr>
              <a:endParaRPr lang="ru-RU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>
                <a:buNone/>
              </a:pPr>
              <a:endParaRPr lang="ru-RU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</p:txBody>
        </p:sp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9095E8DF-2983-EC12-6664-A17F1A07B3E5}"/>
                </a:ext>
              </a:extLst>
            </p:cNvPr>
            <p:cNvSpPr/>
            <p:nvPr/>
          </p:nvSpPr>
          <p:spPr>
            <a:xfrm>
              <a:off x="10620212" y="30653598"/>
              <a:ext cx="7560000" cy="10692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26695" algn="ctr">
                <a:lnSpc>
                  <a:spcPct val="150000"/>
                </a:lnSpc>
                <a:spcAft>
                  <a:spcPts val="800"/>
                </a:spcAft>
                <a:buNone/>
              </a:pPr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marL="226695" algn="ctr">
                <a:lnSpc>
                  <a:spcPct val="150000"/>
                </a:lnSpc>
                <a:spcAft>
                  <a:spcPts val="800"/>
                </a:spcAft>
                <a:buNone/>
              </a:pP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Вывод</a:t>
              </a:r>
              <a:endParaRPr lang="ru-RU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indent="450215" algn="just">
                <a:lnSpc>
                  <a:spcPct val="150000"/>
                </a:lnSpc>
                <a:spcAft>
                  <a:spcPts val="800"/>
                </a:spcAft>
                <a:buNone/>
              </a:pPr>
              <a:r>
                <a:rPr lang="ru-RU" sz="20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В ходе исследования были проанализированы различные комбинации двигателей и профилей крыла.</a:t>
              </a:r>
              <a:r>
                <a:rPr lang="en-US" sz="20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На основе полученных данных можно выделить следующие оптимальные профили:</a:t>
              </a:r>
              <a:endParaRPr lang="en-US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indent="450215" algn="just">
                <a:lnSpc>
                  <a:spcPct val="150000"/>
                </a:lnSpc>
                <a:spcAft>
                  <a:spcPts val="800"/>
                </a:spcAft>
                <a:buNone/>
              </a:pPr>
              <a:endParaRPr lang="ru-RU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marL="457200" indent="-457200" algn="just">
                <a:lnSpc>
                  <a:spcPct val="150000"/>
                </a:lnSpc>
                <a:spcAft>
                  <a:spcPts val="800"/>
                </a:spcAft>
                <a:buAutoNum type="arabicPeriod"/>
              </a:pP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SJ-100 </a:t>
              </a:r>
              <a:r>
                <a:rPr lang="ru-RU" sz="20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с двигателем </a:t>
              </a: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ПД-8</a:t>
              </a: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marL="457200" indent="-457200" algn="just">
                <a:lnSpc>
                  <a:spcPct val="150000"/>
                </a:lnSpc>
                <a:spcAft>
                  <a:spcPts val="800"/>
                </a:spcAft>
                <a:buAutoNum type="arabicPeriod"/>
              </a:pPr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marL="457200" indent="-457200" algn="just">
                <a:lnSpc>
                  <a:spcPct val="150000"/>
                </a:lnSpc>
                <a:spcAft>
                  <a:spcPts val="800"/>
                </a:spcAft>
                <a:buAutoNum type="arabicPeriod"/>
              </a:pPr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marL="457200" indent="-457200" algn="just">
                <a:lnSpc>
                  <a:spcPct val="150000"/>
                </a:lnSpc>
                <a:spcAft>
                  <a:spcPts val="800"/>
                </a:spcAft>
                <a:buAutoNum type="arabicPeriod"/>
              </a:pPr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marL="457200" indent="-457200" algn="just">
                <a:lnSpc>
                  <a:spcPct val="150000"/>
                </a:lnSpc>
                <a:spcAft>
                  <a:spcPts val="800"/>
                </a:spcAft>
                <a:buAutoNum type="arabicPeriod"/>
              </a:pPr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marL="457200" indent="-457200" algn="just">
                <a:lnSpc>
                  <a:spcPct val="150000"/>
                </a:lnSpc>
                <a:spcAft>
                  <a:spcPts val="800"/>
                </a:spcAft>
                <a:buAutoNum type="arabicPeriod"/>
              </a:pPr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Aft>
                  <a:spcPts val="800"/>
                </a:spcAft>
              </a:pP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Время 40.56 секунд, дистанция 1096.37 метров.</a:t>
              </a: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en-US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</p:txBody>
        </p:sp>
        <p:sp>
          <p:nvSpPr>
            <p:cNvPr id="26" name="Прямоугольник: скругленные углы 25">
              <a:extLst>
                <a:ext uri="{FF2B5EF4-FFF2-40B4-BE49-F238E27FC236}">
                  <a16:creationId xmlns:a16="http://schemas.microsoft.com/office/drawing/2014/main" id="{1410168D-1CE4-13BE-32E7-899826C798E8}"/>
                </a:ext>
              </a:extLst>
            </p:cNvPr>
            <p:cNvSpPr/>
            <p:nvPr/>
          </p:nvSpPr>
          <p:spPr>
            <a:xfrm>
              <a:off x="19710318" y="30653598"/>
              <a:ext cx="7560000" cy="10692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  <a:spcAft>
                  <a:spcPts val="800"/>
                </a:spcAft>
              </a:pPr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Aft>
                  <a:spcPts val="800"/>
                </a:spcAft>
              </a:pPr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Aft>
                  <a:spcPts val="800"/>
                </a:spcAft>
              </a:pPr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Aft>
                  <a:spcPts val="800"/>
                </a:spcAft>
              </a:pPr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spcAft>
                  <a:spcPts val="800"/>
                </a:spcAft>
              </a:pPr>
              <a:r>
                <a:rPr lang="ru-RU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Вывод</a:t>
              </a:r>
              <a:r>
                <a:rPr lang="en-US" sz="2000" b="1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(</a:t>
              </a:r>
              <a:r>
                <a:rPr lang="ru-RU" sz="2000" b="1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окончание)</a:t>
              </a:r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r>
                <a:rPr lang="en-US" sz="2000" b="1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2. </a:t>
              </a:r>
              <a:r>
                <a:rPr lang="ru-RU" sz="2000" b="1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Ил-96-300</a:t>
              </a:r>
              <a:r>
                <a:rPr lang="ru-RU" sz="2000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 с двигателем </a:t>
              </a:r>
              <a:r>
                <a:rPr lang="ru-RU" sz="2000" b="1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ПС-90А </a:t>
              </a:r>
              <a:r>
                <a:rPr lang="ru-RU" sz="2000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(</a:t>
              </a:r>
              <a:r>
                <a:rPr lang="ru-RU" sz="2000" b="1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61.02</a:t>
              </a:r>
              <a:r>
                <a:rPr lang="ru-RU" sz="2000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 секунд, </a:t>
              </a:r>
              <a:r>
                <a:rPr lang="ru-RU" sz="2000" b="1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2206.82</a:t>
              </a:r>
              <a:r>
                <a:rPr lang="ru-RU" sz="20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 </a:t>
              </a:r>
              <a:r>
                <a:rPr lang="ru-RU" sz="2000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 метров)</a:t>
              </a:r>
              <a:r>
                <a:rPr lang="ru-RU" sz="2000" b="1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 </a:t>
              </a:r>
              <a:r>
                <a:rPr lang="ru-RU" sz="2000" b="1" kern="100" dirty="0"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 </a:t>
              </a:r>
              <a:r>
                <a:rPr lang="ru-RU" sz="2000" kern="100" dirty="0"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и</a:t>
              </a:r>
              <a:r>
                <a:rPr lang="ru-RU" sz="2000" b="1" kern="100" dirty="0"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 </a:t>
              </a:r>
              <a:r>
                <a:rPr lang="ru-RU" sz="2000" b="1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Ил-96-400M</a:t>
              </a:r>
              <a:r>
                <a:rPr lang="ru-RU" sz="2000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 с двигателем </a:t>
              </a:r>
              <a:r>
                <a:rPr lang="ru-RU" sz="2000" b="1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ПД-35 </a:t>
              </a:r>
              <a:r>
                <a:rPr lang="ru-RU" sz="2000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(</a:t>
              </a:r>
              <a:r>
                <a:rPr lang="ru-RU" sz="2000" b="1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59.33</a:t>
              </a:r>
              <a:r>
                <a:rPr lang="ru-RU" sz="2000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 секунд, </a:t>
              </a:r>
              <a:r>
                <a:rPr lang="ru-RU" sz="2000" b="1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2144.97</a:t>
              </a:r>
              <a:r>
                <a:rPr lang="ru-RU" sz="2000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 метров)</a:t>
              </a:r>
              <a:r>
                <a:rPr lang="ru-RU" sz="2000" b="1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 </a:t>
              </a:r>
              <a:r>
                <a:rPr lang="ru-RU" sz="2000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соответственно</a:t>
              </a:r>
              <a:r>
                <a:rPr lang="en-US" sz="2000" kern="100" dirty="0">
                  <a:effectLst/>
                  <a:latin typeface="Times New Roman Cyr" panose="02020603050405020304"/>
                  <a:ea typeface="Aptos" panose="020B0004020202020204" pitchFamily="34" charset="0"/>
                  <a:cs typeface="Times New Roman Cyr" panose="02020603050405020304"/>
                </a:rPr>
                <a:t>:</a:t>
              </a:r>
              <a:endParaRPr lang="ru-RU" sz="2000" kern="100" dirty="0">
                <a:effectLst/>
                <a:latin typeface="Times New Roman Cyr" panose="02020603050405020304"/>
                <a:ea typeface="Aptos" panose="020B0004020202020204" pitchFamily="34" charset="0"/>
                <a:cs typeface="Times New Roman Cyr" panose="02020603050405020304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en-US" sz="2000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en-US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en-US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ru-RU" sz="2000" b="1" kern="100" dirty="0"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just">
                <a:lnSpc>
                  <a:spcPct val="150000"/>
                </a:lnSpc>
                <a:spcAft>
                  <a:spcPts val="800"/>
                </a:spcAft>
              </a:pPr>
              <a:endParaRPr lang="ru-RU" sz="2000" b="1" kern="1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/>
              <a:endParaRPr lang="ru-RU" sz="2000" dirty="0"/>
            </a:p>
          </p:txBody>
        </p:sp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094F2327-1233-3E26-A624-DC2AE14C2084}"/>
                </a:ext>
              </a:extLst>
            </p:cNvPr>
            <p:cNvSpPr/>
            <p:nvPr/>
          </p:nvSpPr>
          <p:spPr>
            <a:xfrm>
              <a:off x="1530035" y="1471731"/>
              <a:ext cx="3780000" cy="3780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0" b="1" dirty="0">
                  <a:latin typeface="Times New Roman Cyr" panose="02020603050405020304" pitchFamily="18" charset="0"/>
                  <a:cs typeface="Times New Roman Cyr" panose="02020603050405020304" pitchFamily="18" charset="0"/>
                </a:rPr>
                <a:t>251418</a:t>
              </a:r>
              <a:endParaRPr lang="ru-RU" sz="8000" b="1" dirty="0">
                <a:latin typeface="Times New Roman Cyr" panose="02020603050405020304" pitchFamily="18" charset="0"/>
                <a:cs typeface="Times New Roman Cyr" panose="02020603050405020304" pitchFamily="18" charset="0"/>
              </a:endParaRPr>
            </a:p>
          </p:txBody>
        </p:sp>
        <p:sp>
          <p:nvSpPr>
            <p:cNvPr id="28" name="Прямоугольник: скругленные углы 27">
              <a:extLst>
                <a:ext uri="{FF2B5EF4-FFF2-40B4-BE49-F238E27FC236}">
                  <a16:creationId xmlns:a16="http://schemas.microsoft.com/office/drawing/2014/main" id="{4D55E068-6ED5-685D-73A0-02F9C1B508AE}"/>
                </a:ext>
              </a:extLst>
            </p:cNvPr>
            <p:cNvSpPr/>
            <p:nvPr/>
          </p:nvSpPr>
          <p:spPr>
            <a:xfrm>
              <a:off x="6840070" y="1471731"/>
              <a:ext cx="20430319" cy="37800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4400" b="1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Математическое моделирование самолетов </a:t>
              </a:r>
            </a:p>
            <a:p>
              <a:pPr algn="ctr"/>
              <a:r>
                <a:rPr lang="ru-RU" sz="4400" b="1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при различных профилях крыла</a:t>
              </a:r>
              <a:endParaRPr lang="en-US" sz="4400" b="1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Aft>
                  <a:spcPts val="800"/>
                </a:spcAft>
                <a:buNone/>
              </a:pPr>
              <a:r>
                <a:rPr lang="ru-RU" sz="44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Автор</a:t>
              </a:r>
              <a:r>
                <a:rPr lang="en-US" sz="44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: </a:t>
              </a:r>
              <a:r>
                <a:rPr lang="ru-RU" sz="44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Байкова М</a:t>
              </a:r>
              <a:r>
                <a:rPr lang="en-US" sz="44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.</a:t>
              </a:r>
              <a:r>
                <a:rPr lang="ru-RU" sz="44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М</a:t>
              </a:r>
              <a:r>
                <a:rPr lang="en-US" sz="44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., </a:t>
              </a:r>
              <a:r>
                <a:rPr lang="ru-RU" sz="44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Научный </a:t>
              </a:r>
              <a:r>
                <a:rPr lang="ru-RU" sz="4400" kern="100" dirty="0"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р</a:t>
              </a:r>
              <a:r>
                <a:rPr lang="ru-RU" sz="44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ук</a:t>
              </a:r>
              <a:r>
                <a:rPr lang="en-US" sz="44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.: </a:t>
              </a:r>
              <a:r>
                <a:rPr lang="ru-RU" sz="44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Михайлов Е</a:t>
              </a:r>
              <a:r>
                <a:rPr lang="en-US" sz="44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.</a:t>
              </a:r>
              <a:r>
                <a:rPr lang="ru-RU" sz="44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А</a:t>
              </a:r>
              <a:r>
                <a:rPr lang="en-US" sz="44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., </a:t>
              </a:r>
              <a:r>
                <a:rPr lang="ru-RU" sz="44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Консультант</a:t>
              </a:r>
              <a:r>
                <a:rPr lang="en-US" sz="4400" kern="1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: </a:t>
              </a:r>
              <a:r>
                <a:rPr lang="ru-RU" sz="4400" dirty="0" err="1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Кулькин</a:t>
              </a:r>
              <a:r>
                <a:rPr lang="ru-RU" sz="44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 М</a:t>
              </a:r>
              <a:r>
                <a:rPr lang="en-US" sz="44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. </a:t>
              </a:r>
              <a:r>
                <a:rPr lang="ru-RU" sz="44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К</a:t>
              </a:r>
              <a:r>
                <a:rPr lang="en-US" sz="4400" dirty="0">
                  <a:effectLst/>
                  <a:latin typeface="Times New Roman Cyr" panose="02020603050405020304" pitchFamily="18" charset="0"/>
                  <a:ea typeface="Aptos" panose="020B0004020202020204" pitchFamily="34" charset="0"/>
                  <a:cs typeface="Times New Roman Cyr" panose="02020603050405020304" pitchFamily="18" charset="0"/>
                </a:rPr>
                <a:t>.</a:t>
              </a:r>
              <a:endParaRPr lang="ru-RU" sz="4400" dirty="0">
                <a:effectLst/>
                <a:latin typeface="Times New Roman Cyr" panose="02020603050405020304" pitchFamily="18" charset="0"/>
                <a:ea typeface="Aptos" panose="020B0004020202020204" pitchFamily="34" charset="0"/>
                <a:cs typeface="Times New Roman Cyr" panose="02020603050405020304" pitchFamily="18" charset="0"/>
              </a:endParaRPr>
            </a:p>
            <a:p>
              <a:pPr algn="ctr">
                <a:lnSpc>
                  <a:spcPct val="150000"/>
                </a:lnSpc>
                <a:spcAft>
                  <a:spcPts val="800"/>
                </a:spcAft>
                <a:buNone/>
              </a:pPr>
              <a:r>
                <a:rPr lang="ru-RU" sz="4400" dirty="0">
                  <a:latin typeface="Times New Roman Cyr" panose="02020603050405020304" pitchFamily="18" charset="0"/>
                  <a:cs typeface="Times New Roman Cyr" panose="02020603050405020304" pitchFamily="18" charset="0"/>
                </a:rPr>
                <a:t>ГБОУ Школа № </a:t>
              </a:r>
              <a:r>
                <a:rPr lang="en-US" sz="4400" dirty="0">
                  <a:latin typeface="Times New Roman Cyr" panose="02020603050405020304" pitchFamily="18" charset="0"/>
                  <a:cs typeface="Times New Roman Cyr" panose="02020603050405020304" pitchFamily="18" charset="0"/>
                </a:rPr>
                <a:t>1741, </a:t>
              </a:r>
              <a:r>
                <a:rPr lang="ru-RU" sz="4400" dirty="0">
                  <a:latin typeface="Times New Roman Cyr" panose="02020603050405020304" pitchFamily="18" charset="0"/>
                  <a:cs typeface="Times New Roman Cyr" panose="02020603050405020304" pitchFamily="18" charset="0"/>
                </a:rPr>
                <a:t>Москва</a:t>
              </a:r>
            </a:p>
          </p:txBody>
        </p:sp>
      </p:grp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64217F3-9E9D-EDAE-EABE-B7B1AF4D95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654" y="8252109"/>
            <a:ext cx="7149113" cy="2128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Рисунок 32" descr="Изображение выглядит как рисунок, зарисовка, диаграмм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C15C9D1-2DAC-51D7-FB7A-423EFD8E46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6423" y="12279920"/>
            <a:ext cx="7376080" cy="4237673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0402476E-5671-ABC8-140C-C276416E2B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2120" y="20174834"/>
            <a:ext cx="7076179" cy="7485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Рисунок 35" descr="Изображение выглядит как линия, текст, График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E9885491-C893-31AB-402A-124F50E3EC8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3447" y="34407199"/>
            <a:ext cx="7320819" cy="4418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30BBD16B-F53B-1E34-ED80-412530EE21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88938" y="32615399"/>
            <a:ext cx="6401693" cy="4001058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EDD29CCD-A02A-D679-D819-0FF3047869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88938" y="36849001"/>
            <a:ext cx="6401693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041522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791</TotalTime>
  <Words>849</Words>
  <Application>Microsoft Office PowerPoint</Application>
  <PresentationFormat>Произвольный</PresentationFormat>
  <Paragraphs>231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Cambria Math</vt:lpstr>
      <vt:lpstr>Century Gothic</vt:lpstr>
      <vt:lpstr>Times New Roman</vt:lpstr>
      <vt:lpstr>Times New Roman Cyr</vt:lpstr>
      <vt:lpstr>Wingdings 3</vt:lpstr>
      <vt:lpstr>Сектор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Mikhail Baykov</dc:creator>
  <cp:lastModifiedBy>Маша Байкова</cp:lastModifiedBy>
  <cp:revision>5</cp:revision>
  <dcterms:created xsi:type="dcterms:W3CDTF">2025-04-12T17:13:52Z</dcterms:created>
  <dcterms:modified xsi:type="dcterms:W3CDTF">2025-04-13T06:27:06Z</dcterms:modified>
</cp:coreProperties>
</file>